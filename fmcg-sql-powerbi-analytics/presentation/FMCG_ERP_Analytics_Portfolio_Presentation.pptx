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5624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FMCG ERP portfolio | Reporting period 2024–2025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366760" y="65562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Server • Power BI • DAX • Power Query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3223A"/>
          </a:solidFill>
          <a:ln w="12700">
            <a:solidFill>
              <a:srgbClr val="1322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594360"/>
            <a:ext cx="3200400" cy="3200400"/>
          </a:xfrm>
          <a:prstGeom prst="ellipse">
            <a:avLst/>
          </a:prstGeom>
          <a:solidFill>
            <a:srgbClr val="2563EB">
              <a:alpha val="2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3108960"/>
            <a:ext cx="2057400" cy="2057400"/>
          </a:xfrm>
          <a:prstGeom prst="ellipse">
            <a:avLst/>
          </a:prstGeom>
          <a:solidFill>
            <a:srgbClr val="059669">
              <a:alpha val="22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FMCG ERP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58368" y="21031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Server + Power BI portfolio project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58368" y="2651760"/>
            <a:ext cx="61264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analysis of a synthetic FMCG ERP dataset covering sales, customers, service, inventory, manufacturing and suppliers.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37947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81304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Server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2848" y="3794760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2848" y="381304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75888" y="3794760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75888" y="381304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81728" y="3794760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381304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Query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46177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2024–2025 reporting period  •  7 ERP source tables  •  597K raw rows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549640" y="685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snapshot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58200" y="11887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68512" y="1298448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£358.12M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68512" y="165506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Net Sales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458200" y="219456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68512" y="2304288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</a:rPr>
              <a:t>£114.50M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68512" y="266090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Contribution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458200" y="320040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68512" y="3310128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</a:rPr>
              <a:t>61.14%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668512" y="366674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LINE OTIF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458200" y="420624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68512" y="4315968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£531.8K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668512" y="46725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Unfulfilled Order Value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8368" y="617220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Synthetic data • Built for portfolio demonstration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scope &amp; business questions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3776" y="79552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to show end-to-end analytics skills, not just dashboard design.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08760"/>
            <a:ext cx="64008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5506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597K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67512" y="20391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source rows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15087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508760"/>
            <a:ext cx="64008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165506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770632" y="20391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source tables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5087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508760"/>
            <a:ext cx="64008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65506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873752" y="20391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 model tables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12280" y="15087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1508760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76872" y="165506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731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976872" y="20391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 days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15400" y="15087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15400" y="1508760"/>
            <a:ext cx="64008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79992" y="165506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079992" y="20391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 / warehouse pairs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2788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THEMES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3090672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3090672"/>
            <a:ext cx="246888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3310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Commercial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67512" y="37033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Sales growth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Margin pressure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Customer profitability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Promotion performance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83280" y="3090672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83280" y="3090672"/>
            <a:ext cx="2468880" cy="1097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7872" y="3310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Service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3547872" y="37033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LINE OTIF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Carrier lateness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Unfulfilled demand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63640" y="3090672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3090672"/>
            <a:ext cx="246888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3310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Inventory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6428232" y="37033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Safety stock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Days of cover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Warehouse write-offs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44000" y="3090672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144000" y="3090672"/>
            <a:ext cx="246888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08592" y="3310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Operations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9308592" y="37033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Plan attainment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Downtime &amp; rejects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Supplier timeliness &amp; PPV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02920" y="5486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Key modelling rule: keep facts separate, use dimension-to-fact relationships, and apply the correct date role for each process.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502920" y="592531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Examples: DispatchDate for invoiced sales/COGS • ReturnDate for credits • SnapshotDate for inventory • ProductionDate for manufacturing • ActualReceiptDate for procurement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engineering &amp; SQL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3776" y="79552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files were preserved, profiled, validated and converted into a reporting layer for Power BI.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55448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18470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Raw CSVs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21762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7 source files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58568" y="1856232"/>
            <a:ext cx="310896" cy="32004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04872" y="141732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55448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18470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SQL staging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21762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Typed imports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60520" y="1856232"/>
            <a:ext cx="310896" cy="32004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6824" y="141732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16552" y="155448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16552" y="18470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Profiling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16552" y="21762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Keys, NULLs, ranges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62472" y="1856232"/>
            <a:ext cx="310896" cy="32004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141732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18504" y="155448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18504" y="18470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Cleaning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18504" y="21762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Standardised labels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964424" y="1856232"/>
            <a:ext cx="310896" cy="32004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10728" y="141732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0456" y="155448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0456" y="18470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0456" y="21762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Reconciled balances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866376" y="1856232"/>
            <a:ext cx="310896" cy="32004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12680" y="141732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122408" y="155448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122408" y="18470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Reporting views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122408" y="21762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Facts + dimensions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3090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HIGHLIGHTS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145,527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02920" y="3739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Sales order lines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926080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168,005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2926080" y="3739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Delivery allocations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49240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175,440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5349240" y="3739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Inventory snapshots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292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58,480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502920" y="46085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Production batches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92608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17,544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2926080" y="46085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Procurement receipts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34924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20,188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5349240" y="46085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Return lines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863840" y="3154680"/>
            <a:ext cx="379476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092440" y="3383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 quality handled explicitly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065008" y="3767328"/>
            <a:ext cx="31546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123 Channel labels standardised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106 missing sales reps reported as “Unassigned”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deliveries handled without double-counting demand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equation reconciled daily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 and procurement arithmetic validated</a:t>
            </a:r>
            <a:endParaRPr lang="en-US" sz="1120" dirty="0"/>
          </a:p>
        </p:txBody>
      </p:sp>
      <p:sp>
        <p:nvSpPr>
          <p:cNvPr id="49" name="Text 47"/>
          <p:cNvSpPr/>
          <p:nvPr/>
        </p:nvSpPr>
        <p:spPr>
          <a:xfrm>
            <a:off x="502920" y="5623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SQL skills demonstrated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148840" y="5504688"/>
            <a:ext cx="1298448" cy="329184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48840" y="5522976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593592" y="5504688"/>
            <a:ext cx="1298448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93592" y="5522976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joins at correct grain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038344" y="5504688"/>
            <a:ext cx="1298448" cy="329184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38344" y="5522976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aggregation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83096" y="5504688"/>
            <a:ext cx="1298448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83096" y="5522976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functions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927848" y="5504688"/>
            <a:ext cx="1298448" cy="329184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27848" y="5522976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logic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372600" y="5504688"/>
            <a:ext cx="1298448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72600" y="5522976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model &amp; analytical layer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3776" y="79552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manually controlled star-style model with explicit measures and business-safe date roles.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4632" y="148132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DimCustomer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31720" y="1280160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04872" y="148132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DimProduct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280160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25112" y="148132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DimDate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280160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45352" y="148132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DimLocation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1280160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65592" y="148132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DimSupplier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12680" y="1280160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85832" y="148132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DimMaterial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83464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0175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FactSalesOrders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Demand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197864" y="1901952"/>
            <a:ext cx="0" cy="93268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1720" y="283464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377440" y="30175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FactDeliveries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77440" y="329184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Revenue / COGS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18104" y="1901952"/>
            <a:ext cx="0" cy="93268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283464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97680" y="30175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FactReturns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97680" y="329184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Credits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38344" y="1901952"/>
            <a:ext cx="0" cy="93268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283464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17920" y="30175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FactProduction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329184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Manufacturing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958584" y="1901952"/>
            <a:ext cx="0" cy="93268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92440" y="283464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138160" y="30175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FactInventory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138160" y="329184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Stock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878824" y="1901952"/>
            <a:ext cx="0" cy="93268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12680" y="283464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058400" y="30175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FactProcurement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058400" y="329184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Suppliers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799064" y="1901952"/>
            <a:ext cx="0" cy="93268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9136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Dimensions filter facts (1 → *) • single-direction • no fact-to-fact relationships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635240" y="3794760"/>
            <a:ext cx="3977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882128" y="40416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Measures built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7882128" y="4434840"/>
            <a:ext cx="32918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Net Sales • Gross Profit • Contribution • Gross / Contribution Margin • LINE OTIF • Unfulfilled Cases / Value • Plan Attainment • Rejection Rate • Downtime • Supplier On-Time % • PPV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" y="4572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Key Power BI skills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" y="4892040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91032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DAX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651760" y="4892040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51760" y="491032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Query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00600" y="4892040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491032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" y="5458968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547725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table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651760" y="5458968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51760" y="547725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formatting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00600" y="5458968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0600" y="547725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visuals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3776" y="79552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management-level summary of commercial performance, profitability and service risk.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4980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pic>
        <p:nvPicPr>
          <p:cNvPr id="5" name="Image 0" descr="/mnt/data/47573d5a-0985-4000-8063-f196c32498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6116"/>
            <a:ext cx="7406640" cy="4251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75320" y="1325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 KPIS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75320" y="16642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Net Sales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75320" y="1874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£358.12M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149840" y="16642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Contribution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149840" y="1874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</a:rPr>
              <a:t>£114.50M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75320" y="24231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Contribution Margin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75320" y="2633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31.97%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149840" y="24231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LINE OTIF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149840" y="2633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61.14%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275320" y="3246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TAKEAWAYS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29600" y="3547872"/>
            <a:ext cx="342900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Net Sales exceeded 2024 across all product categories.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WH03 had the weakest LINE OTIF at 53.58%.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Unfulfilled order value reached £531.8K; WH03 accounted for ~45%.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Trade remained the largest customer channel.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&amp; Customers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3776" y="79552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profitability, margin pressure and interactive sales-driver analysis.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4523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pic>
        <p:nvPicPr>
          <p:cNvPr id="5" name="Image 0" descr="/mnt/data/fb0c2f8d-8899-4fe9-81a4-401a0b9e2e0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9397"/>
            <a:ext cx="7360920" cy="41449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83880" y="1325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PAGE DEMONSTRATES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83880" y="1664208"/>
            <a:ext cx="342900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customers ranked by contribution, not just revenue.</a:t>
            </a:r>
            <a:endParaRPr lang="en-US" sz="1110" dirty="0"/>
          </a:p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Large-account review combines Net Sales, Contribution Margin and Return Credits.</a:t>
            </a:r>
            <a:endParaRPr lang="en-US" sz="1110" dirty="0"/>
          </a:p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sales vs Gross Margin scatter highlights margin pressure.</a:t>
            </a:r>
            <a:endParaRPr lang="en-US" sz="1110" dirty="0"/>
          </a:p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Decomposition Tree supports drill-down by Region → Channel → Segment → Category.</a:t>
            </a:r>
            <a:endParaRPr lang="en-US" sz="1110" dirty="0"/>
          </a:p>
        </p:txBody>
      </p:sp>
      <p:sp>
        <p:nvSpPr>
          <p:cNvPr id="8" name="Shape 5"/>
          <p:cNvSpPr/>
          <p:nvPr/>
        </p:nvSpPr>
        <p:spPr>
          <a:xfrm>
            <a:off x="8183880" y="4041648"/>
            <a:ext cx="3401568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394192" y="42702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Recruiter signal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394192" y="461772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Shows commercial thinking: profitability, margin, customer concentration and interactive root-cause exploration.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Supply &amp; Service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3776" y="79552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performance, carrier reliability, shortages and warehouse loss signals.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4523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pic>
        <p:nvPicPr>
          <p:cNvPr id="5" name="Image 0" descr="/mnt/data/688e0eed-4fd6-448f-b73e-dee66d052b7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23065"/>
            <a:ext cx="7360920" cy="40575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83880" y="1325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FINDINGS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83880" y="1664208"/>
            <a:ext cx="342900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WH03 LINE OTIF: 53.58% — lowest of the four warehouses.</a:t>
            </a:r>
            <a:endParaRPr lang="en-US" sz="1110" dirty="0"/>
          </a:p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CAR03 late-delivery share: 40.86% vs 33.45% for CAR01/CAR02.</a:t>
            </a:r>
            <a:endParaRPr lang="en-US" sz="1110" dirty="0"/>
          </a:p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WH03 contributed 45.26% (£240.68K) of unfulfilled order value.</a:t>
            </a:r>
            <a:endParaRPr lang="en-US" sz="1110" dirty="0"/>
          </a:p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Beverages Variant 03 was the largest product-level shortage exposure.</a:t>
            </a:r>
            <a:endParaRPr lang="en-US" sz="1110" dirty="0"/>
          </a:p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write-offs were profiled by product and location.</a:t>
            </a:r>
            <a:endParaRPr lang="en-US" sz="1110" dirty="0"/>
          </a:p>
        </p:txBody>
      </p:sp>
      <p:sp>
        <p:nvSpPr>
          <p:cNvPr id="8" name="Shape 5"/>
          <p:cNvSpPr/>
          <p:nvPr/>
        </p:nvSpPr>
        <p:spPr>
          <a:xfrm>
            <a:off x="8183880" y="4480560"/>
            <a:ext cx="157276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183880" y="4480560"/>
            <a:ext cx="64008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48472" y="4626864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19K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348472" y="501091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Unfulfilled cases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921240" y="4480560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921240" y="4480560"/>
            <a:ext cx="64008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85832" y="462686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£531.8K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085832" y="5010912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Unfulfilled order value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Manufacturing &amp; Suppliers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3776" y="79552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efficiency, downtime deterioration and supplier reliability / price variance.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4523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pic>
        <p:nvPicPr>
          <p:cNvPr id="5" name="Image 0" descr="/mnt/data/9565ac51-9e9c-4fa6-9773-febe743424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0617"/>
            <a:ext cx="7360920" cy="42624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83880" y="1325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FINDINGS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83880" y="1664208"/>
            <a:ext cx="342900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PL03 had the lowest production-plan attainment.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PL03 also showed the highest rejection rate cluster.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Downtime on PL03 spiked to ~20% from June through September.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on-time performance averaged ~47.6% across received POs.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07 and Supplier 19 were clear timeliness outliers.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Unfavourable PPV was concentrated among a small set of suppliers.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183880" y="4572000"/>
            <a:ext cx="3401568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394192" y="47731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</a:rPr>
              <a:t>Storytelling choice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0" y="47183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</a:rPr>
              <a:t>Used a lollipop visual for supplier PPV to avoid repeating standard bars and tables.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project demonstrates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3776" y="79552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recruiter-ready summary of the skills evidenced by the work.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331720" cy="34290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233172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7099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SQL &amp; Data Quality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2648" y="2176272"/>
            <a:ext cx="2029968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setup &amp; imports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Profiling / validation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reporting views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grain &amp; reconciliation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417320"/>
            <a:ext cx="2331720" cy="34290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417320"/>
            <a:ext cx="233172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17099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 Modelling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64408" y="2176272"/>
            <a:ext cx="2029968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Star-style schema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relationships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roles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fact-to-fact joins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0" y="1417320"/>
            <a:ext cx="2331720" cy="34290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1417320"/>
            <a:ext cx="233172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71032" y="17099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DAX &amp; Power Query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16168" y="2176272"/>
            <a:ext cx="2029968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Profitability measures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OTIF logic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Unfulfilled demand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 / delivery enrichment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58200" y="1417320"/>
            <a:ext cx="2331720" cy="34290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1417320"/>
            <a:ext cx="233172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2792" y="17099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Business Storytelling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67928" y="2176272"/>
            <a:ext cx="2029968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management pages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drill-downs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visuals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insights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5166360"/>
            <a:ext cx="1074420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" y="53949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Recruiter takeaway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331720" y="5358384"/>
            <a:ext cx="836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I can take messy operational data from raw files to validated SQL, a controlled BI model, explicit DAX measures and management-ready insights.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14476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Suggested GitHub contents: SQL scripts • project documentation • PBIX / report screenshots • this presentation • README with verified findings and limitations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FMCG ERP Analytics — SQL Server &amp; Power BI Portfolio Project</dc:title>
  <dc:subject>FMCG ERP Analytics portfolio presentation</dc:subject>
  <dc:creator>OpenAI</dc:creator>
  <cp:lastModifiedBy>OpenAI</cp:lastModifiedBy>
  <cp:revision>1</cp:revision>
  <dcterms:created xsi:type="dcterms:W3CDTF">2026-09-24T23:39:27Z</dcterms:created>
  <dcterms:modified xsi:type="dcterms:W3CDTF">2026-09-24T23:39:27Z</dcterms:modified>
</cp:coreProperties>
</file>